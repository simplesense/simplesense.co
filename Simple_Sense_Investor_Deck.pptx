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2011680"/>
            <a:ext cx="6583680" cy="6583680"/>
          </a:xfrm>
          <a:prstGeom prst="ellipse">
            <a:avLst/>
          </a:prstGeom>
          <a:solidFill>
            <a:srgbClr val="ECE7DC"/>
          </a:solidFill>
          <a:ln/>
        </p:spPr>
      </p:sp>
      <p:sp>
        <p:nvSpPr>
          <p:cNvPr id="3" name="Shape 1"/>
          <p:cNvSpPr/>
          <p:nvPr/>
        </p:nvSpPr>
        <p:spPr>
          <a:xfrm>
            <a:off x="9235440" y="-1005840"/>
            <a:ext cx="4572000" cy="4572000"/>
          </a:xfrm>
          <a:prstGeom prst="ellipse">
            <a:avLst/>
          </a:prstGeom>
          <a:solidFill>
            <a:srgbClr val="F4F1EA"/>
          </a:solidFill>
          <a:ln w="15875">
            <a:solidFill>
              <a:srgbClr val="0871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0" y="-182880"/>
            <a:ext cx="2926080" cy="292608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C25A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81360" y="868680"/>
            <a:ext cx="1280160" cy="128016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62995" y="1150315"/>
            <a:ext cx="716890" cy="71689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868680"/>
            <a:ext cx="310896" cy="310896"/>
          </a:xfrm>
          <a:prstGeom prst="ellipse">
            <a:avLst/>
          </a:prstGeom>
          <a:solidFill>
            <a:srgbClr val="C25A3C"/>
          </a:solidFill>
          <a:ln/>
        </p:spPr>
      </p:sp>
      <p:sp>
        <p:nvSpPr>
          <p:cNvPr id="8" name="Text 5"/>
          <p:cNvSpPr/>
          <p:nvPr/>
        </p:nvSpPr>
        <p:spPr>
          <a:xfrm>
            <a:off x="987552" y="8412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66928" y="2286000"/>
            <a:ext cx="9052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AI operator for your store.</a:t>
            </a:r>
            <a:endParaRPr lang="en-US" sz="5000" dirty="0"/>
          </a:p>
        </p:txBody>
      </p:sp>
      <p:sp>
        <p:nvSpPr>
          <p:cNvPr id="10" name="Text 7"/>
          <p:cNvSpPr/>
          <p:nvPr/>
        </p:nvSpPr>
        <p:spPr>
          <a:xfrm>
            <a:off x="566928" y="3639312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another dashboard. </a:t>
            </a:r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reads your whole store and tells you the few moves to make this week — and why.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66928" y="5715000"/>
            <a:ext cx="1106424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6928" y="5897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Investor Overview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153912" y="5897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 2026   ·   SimpleSense.co   ·   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BIG IDEA, IN PLAIN WORDS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Imagine a wise shopkeeper who has run 500 stores 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sitting right next to you, every Monday.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2148840"/>
            <a:ext cx="3502152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42316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62890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429000" y="235000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841248" y="3355848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make a giant pile of numbers every day.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41248" y="3977640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Orders, visitors, ads, emails, returns. Way too much to read. Most owners open it, squint, and close it.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43400" y="2148840"/>
            <a:ext cx="3502152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17720" y="242316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60" y="262890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05472" y="235000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4617720" y="3355848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reads the whole pile for you.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4617720" y="3977640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looks at years of your real data the way a sharp operator would — and finds the patterns hiding inside.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119872" y="2148840"/>
            <a:ext cx="3502152" cy="2331720"/>
          </a:xfrm>
          <a:prstGeom prst="roundRect">
            <a:avLst>
              <a:gd name="adj" fmla="val 3137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394192" y="2423160"/>
            <a:ext cx="822960" cy="82296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32" y="2628900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981944" y="235000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6"/>
          <p:cNvSpPr/>
          <p:nvPr/>
        </p:nvSpPr>
        <p:spPr>
          <a:xfrm>
            <a:off x="8394192" y="3355848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tells you the few things to do — and why.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8394192" y="3977640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“Do these 3 things this week. Here's the reason, and here's roughly how much money it should add.”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566928" y="4800600"/>
            <a:ext cx="11055096" cy="960120"/>
          </a:xfrm>
          <a:prstGeom prst="roundRect">
            <a:avLst>
              <a:gd name="adj" fmla="val 7619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41248" y="4992624"/>
            <a:ext cx="566928" cy="566928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311" y="5128687"/>
            <a:ext cx="294803" cy="29480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618488" y="4882896"/>
            <a:ext cx="9729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one line: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turn a store's data into a short, ranked to-do list that makes the owner money — the judgment of a seasoned CEO, at software price.</a:t>
            </a:r>
            <a:endParaRPr lang="en-US" sz="1450" dirty="0"/>
          </a:p>
        </p:txBody>
      </p:sp>
      <p:sp>
        <p:nvSpPr>
          <p:cNvPr id="27" name="Text 21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Merchants aren't missing data. They're drowning in it.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577840" cy="4160520"/>
          </a:xfrm>
          <a:prstGeom prst="roundRect">
            <a:avLst>
              <a:gd name="adj" fmla="val 1758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Every Monday morning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86968" y="269748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Shopify, GA4, Meta and Google each tell a different story. Meta claims sales Shopify calls “direct.”</a:t>
            </a:r>
            <a:endParaRPr lang="en-US" sz="13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Conversion sits at 1.2%… or 0.3% after a product went semi-viral — and no one knows why.</a:t>
            </a:r>
            <a:endParaRPr lang="en-US" sz="13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 is a guess: the tools don't know ad spend, returns, or true landed cost.</a:t>
            </a:r>
            <a:endParaRPr lang="en-US" sz="13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hours of CSV exports and pivot tables later — still no idea what to change this week.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46520" y="1965960"/>
            <a:ext cx="2450592" cy="1325880"/>
          </a:xfrm>
          <a:prstGeom prst="roundRect">
            <a:avLst>
              <a:gd name="adj" fmla="val 620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2075688"/>
            <a:ext cx="2267712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10–15 hrs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6556248" y="2708453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week reconciling numbers instead of running the business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171432" y="1965960"/>
            <a:ext cx="2450592" cy="1325880"/>
          </a:xfrm>
          <a:prstGeom prst="roundRect">
            <a:avLst>
              <a:gd name="adj" fmla="val 620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262872" y="2075688"/>
            <a:ext cx="2267712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C25A3C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0.3%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9281160" y="2708453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conversion rate merchants report even after going viral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46520" y="3456432"/>
            <a:ext cx="5175504" cy="1371600"/>
          </a:xfrm>
          <a:prstGeom prst="roundRect">
            <a:avLst>
              <a:gd name="adj" fmla="val 5333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29400" y="3456432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7315200" y="3611880"/>
            <a:ext cx="4032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i="1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 I the only one who opens Shopify Analytics every Monday and has no idea what to do with it?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315200" y="4572000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recurring theme across r/shopify &amp; r/ecommerce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46520" y="4983480"/>
            <a:ext cx="5175504" cy="1143000"/>
          </a:xfrm>
          <a:prstGeom prst="roundRect">
            <a:avLst>
              <a:gd name="adj" fmla="val 6400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02552" y="5175504"/>
            <a:ext cx="566928" cy="566928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4284" y="5317236"/>
            <a:ext cx="283464" cy="283464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452360" y="5074920"/>
            <a:ext cx="38953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hard part isn't seeing the data — it's connecting the dots and deciding what to change. 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 every tool leaves that to the owner.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VALIDATION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Merchants are already asking for exactly this.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Representative voice from merchant communities (r/shopify, Talk Shop Discord, r/ecommerce), 2026.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441192" cy="3017520"/>
          </a:xfrm>
          <a:prstGeom prst="roundRect">
            <a:avLst>
              <a:gd name="adj" fmla="val 2424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240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77824" y="3108960"/>
            <a:ext cx="281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 dashboards are fine for quick snapshots, but it's mostly transactional data. I need the why behind the numbers and what to change on Monday.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77824" y="4800600"/>
            <a:ext cx="281940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4892040"/>
            <a:ext cx="281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r/shopify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3880" y="2286000"/>
            <a:ext cx="3441192" cy="3017520"/>
          </a:xfrm>
          <a:prstGeom prst="roundRect">
            <a:avLst>
              <a:gd name="adj" fmla="val 2424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38472" y="2240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4684776" y="3108960"/>
            <a:ext cx="281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I'm drowning in data but still making terrible decisions. I spend hours reconciling Shopify vs GA vs Ads and still don't know what to do.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84776" y="4800600"/>
            <a:ext cx="281940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84776" y="4892040"/>
            <a:ext cx="281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Talk Shop Discord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80832" y="2286000"/>
            <a:ext cx="3441192" cy="3017520"/>
          </a:xfrm>
          <a:prstGeom prst="roundRect">
            <a:avLst>
              <a:gd name="adj" fmla="val 2424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45424" y="2240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8491728" y="3108960"/>
            <a:ext cx="281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do my numbers never match across platforms? I just want someone to tell me the three highest-ROI moves this week.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91728" y="4800600"/>
            <a:ext cx="281940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91728" y="4892040"/>
            <a:ext cx="281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r/ecommerce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5486400"/>
            <a:ext cx="11055096" cy="777240"/>
          </a:xfrm>
          <a:prstGeom prst="roundRect">
            <a:avLst>
              <a:gd name="adj" fmla="val 9412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86968" y="5486400"/>
            <a:ext cx="104150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pattern: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“I see the numbers but don't know what to change.” That sentence — repeated across communities — is the wedge.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GAP IS EXPENSIVE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“so what / now what” gap costs real money — every week.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2558034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95144"/>
            <a:ext cx="676656" cy="676656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64308"/>
            <a:ext cx="338328" cy="3383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91056" y="2295144"/>
            <a:ext cx="14150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10–15 hrs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3081528"/>
            <a:ext cx="21008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 time lost weekly to data wrangling instead of growth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99282" y="2057400"/>
            <a:ext cx="2558034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55314" y="2295144"/>
            <a:ext cx="676656" cy="676656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4478" y="2464308"/>
            <a:ext cx="338328" cy="3383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23410" y="2295144"/>
            <a:ext cx="14150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5A3C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Missed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3655314" y="3081528"/>
            <a:ext cx="21008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 plays: e.g. ~80% of buyers near your stores — never geo-fenced or pushed to local pickup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31636" y="2057400"/>
            <a:ext cx="2558034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87668" y="2295144"/>
            <a:ext cx="676656" cy="676656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2" y="2464308"/>
            <a:ext cx="338328" cy="33832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255764" y="2295144"/>
            <a:ext cx="14150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80 / 20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487668" y="3081528"/>
            <a:ext cx="21008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20% of customers drive most revenue — but stay buried in spreadsheets, never over-served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9063990" y="2057400"/>
            <a:ext cx="2558034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320022" y="2295144"/>
            <a:ext cx="676656" cy="676656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9186" y="2464308"/>
            <a:ext cx="338328" cy="33832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088118" y="2295144"/>
            <a:ext cx="14150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5A3C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Scaling?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9320022" y="3081528"/>
            <a:ext cx="21008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Revenue grows, but owners can't tell if they're scaling profit or just spend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66928" y="4160520"/>
            <a:ext cx="11055096" cy="960120"/>
          </a:xfrm>
          <a:prstGeom prst="roundRect">
            <a:avLst>
              <a:gd name="adj" fmla="val 7619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41248" y="4352544"/>
            <a:ext cx="566928" cy="566928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494276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18488" y="4224528"/>
            <a:ext cx="97292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Agencies make it worse: </a:t>
            </a:r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$3–10k/month for beautiful monthly reports full of “opportunities” that still leave you to figure out the exact moves. You don't need more reports — you need a co-pilot who tells you what to do next.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566928" y="534924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 we deliver:  </a:t>
            </a:r>
            <a:pPr algn="ctr" indent="0" marL="0">
              <a:lnSpc>
                <a:spcPct val="104000"/>
              </a:lnSpc>
              <a:buNone/>
            </a:pPr>
            <a:r>
              <a:rPr lang="en-US" sz="1400" i="1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“I think traffic's okay but conversion feels off”  →  “Here are the 3 highest-ROI moves I'm making this week, and why.”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2194560"/>
            <a:ext cx="6035040" cy="6035040"/>
          </a:xfrm>
          <a:prstGeom prst="ellipse">
            <a:avLst/>
          </a:prstGeom>
          <a:solidFill>
            <a:srgbClr val="ECE7DC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SOLUTION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859536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Simple Sense is a virtual ex-CEO / ex-CMO for your store.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ingests years of your real order and customer data, runs operator-level analysis, and delivers ranked, prescriptive moves — not another chart.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66928" y="2926080"/>
            <a:ext cx="3502152" cy="2423160"/>
          </a:xfrm>
          <a:prstGeom prst="roundRect">
            <a:avLst>
              <a:gd name="adj" fmla="val 301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3200400"/>
            <a:ext cx="786384" cy="786384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" y="3396996"/>
            <a:ext cx="393192" cy="39319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4096512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Sees what tools miss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41248" y="4517136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Geographic concentration, Pareto customer economics, cohort &amp; repeat-purchase drivers, cart-abandon signals, slow-moving inventory risk.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43400" y="2926080"/>
            <a:ext cx="3502152" cy="2423160"/>
          </a:xfrm>
          <a:prstGeom prst="roundRect">
            <a:avLst>
              <a:gd name="adj" fmla="val 301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17720" y="3200400"/>
            <a:ext cx="786384" cy="786384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3396996"/>
            <a:ext cx="393192" cy="39319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17720" y="4096512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Thinks like an operator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617720" y="4517136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Connects marketing spend, customer quality and profit — the way someone who has run and fixed hundreds of stores would in a strategy session.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19872" y="2926080"/>
            <a:ext cx="3502152" cy="2423160"/>
          </a:xfrm>
          <a:prstGeom prst="roundRect">
            <a:avLst>
              <a:gd name="adj" fmla="val 301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94192" y="3200400"/>
            <a:ext cx="786384" cy="786384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0788" y="3396996"/>
            <a:ext cx="393192" cy="3931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94192" y="4096512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Prescribes the next move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8394192" y="4517136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“Build this Klaviyo segment and launch this flow. Turn on these pickup rules. Test these ad angles.” — with impact ranges and easy-export paths.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66928" y="5760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Positioning:  </a:t>
            </a:r>
            <a:pPr indent="0" marL="0">
              <a:buNone/>
            </a:pPr>
            <a:r>
              <a:rPr lang="en-US" sz="145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Everyone else sells a better rear-view mirror. Simple Sense is the co-pilot telling you where to turn next.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Three steps. Connect once, get moves forever.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578608"/>
            <a:ext cx="841248" cy="841248"/>
          </a:xfrm>
          <a:prstGeom prst="ellipse">
            <a:avLst/>
          </a:prstGeom>
          <a:solidFill>
            <a:srgbClr val="211C1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788920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44368" y="25420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841248" y="35844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Ingest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41248" y="40690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Securely connect Shopify (Woo &amp; BigCommerce next). Pulls 3–5+ years of order, customer, product &amp; marketing data.</a:t>
            </a:r>
            <a:endParaRPr lang="en-US" sz="12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1064" y="3493008"/>
            <a:ext cx="329184" cy="32918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71416" y="228600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745736" y="2578608"/>
            <a:ext cx="841248" cy="841248"/>
          </a:xfrm>
          <a:prstGeom prst="ellipse">
            <a:avLst/>
          </a:prstGeom>
          <a:solidFill>
            <a:srgbClr val="211C15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2788920"/>
            <a:ext cx="420624" cy="42062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48856" y="25420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0"/>
          <p:cNvSpPr/>
          <p:nvPr/>
        </p:nvSpPr>
        <p:spPr>
          <a:xfrm>
            <a:off x="4745736" y="35844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Analyze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4745736" y="40690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Operator-grade AI engine runs cohort, geo, Pareto, retention &amp; inventory analysis across the full history.</a:t>
            </a:r>
            <a:endParaRPr lang="en-US" sz="12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493008"/>
            <a:ext cx="329184" cy="329184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8375904" y="228600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650224" y="2578608"/>
            <a:ext cx="841248" cy="841248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0536" y="2788920"/>
            <a:ext cx="420624" cy="42062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753344" y="25420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03</a:t>
            </a:r>
            <a:endParaRPr lang="en-US" sz="2600" dirty="0"/>
          </a:p>
        </p:txBody>
      </p:sp>
      <p:sp>
        <p:nvSpPr>
          <p:cNvPr id="22" name="Text 15"/>
          <p:cNvSpPr/>
          <p:nvPr/>
        </p:nvSpPr>
        <p:spPr>
          <a:xfrm>
            <a:off x="8650224" y="35844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Prescribe</a:t>
            </a:r>
            <a:endParaRPr lang="en-US" sz="1900" dirty="0"/>
          </a:p>
        </p:txBody>
      </p:sp>
      <p:sp>
        <p:nvSpPr>
          <p:cNvPr id="23" name="Text 16"/>
          <p:cNvSpPr/>
          <p:nvPr/>
        </p:nvSpPr>
        <p:spPr>
          <a:xfrm>
            <a:off x="8650224" y="40690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Ranked, prescriptive actions with expected impact and one-click / easy-export paths into Klaviyo, Shopify Flow &amp; ad platforms.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566928" y="5440680"/>
            <a:ext cx="11055096" cy="868680"/>
          </a:xfrm>
          <a:prstGeom prst="roundRect">
            <a:avLst>
              <a:gd name="adj" fmla="val 8421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1248" y="5605272"/>
            <a:ext cx="530352" cy="530352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836" y="5737860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572768" y="548640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compounds:  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more it watches your store, the sharper the moves — a monitoring layer that flags changes and surfaces the next play, every week.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WE'RE DIFFERENT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decision layer on top of the data layer.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Incumbents perfected visibility into the past. The unsolved, valuable job is telling the operator what to change.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5298948" cy="3017520"/>
          </a:xfrm>
          <a:prstGeom prst="roundRect">
            <a:avLst>
              <a:gd name="adj" fmla="val 2424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788920"/>
            <a:ext cx="731520" cy="731520"/>
          </a:xfrm>
          <a:prstGeom prst="ellipse">
            <a:avLst/>
          </a:prstGeom>
          <a:solidFill>
            <a:srgbClr val="837A6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9718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64208" y="2788920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Everyone else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664208" y="3081528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rear-view mirror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77824" y="3840480"/>
            <a:ext cx="47503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Prettier charts &amp; unified revenue dashboards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attribution stitching across channels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Shows what already happened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Leaves the “now what” to you — or a $3–10k/mo agency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323076" y="2514600"/>
            <a:ext cx="5298948" cy="3017520"/>
          </a:xfrm>
          <a:prstGeom prst="roundRect">
            <a:avLst>
              <a:gd name="adj" fmla="val 2424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15684" y="2788920"/>
            <a:ext cx="731520" cy="73152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564" y="29718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20356" y="2788920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7420356" y="3081528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co-pilot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633972" y="3840480"/>
            <a:ext cx="47503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3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Ranked, prescriptive moves — not charts to interpret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Explains why, with the numbers behind each call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Tells you what to change next, with impact ranges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One-click / easy-export execution into your stack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COMPOUNDS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flywheel an incumbent won't build.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960120" y="201168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61288" y="232257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2459736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64792" y="219456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More stores join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764792" y="254203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Audit wedge lands operators fast.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165592" y="201168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366760" y="232257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459736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970264" y="219456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More outcome data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970264" y="254203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rec tagged with the lift it drove.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165592" y="365760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66760" y="396849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105656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70264" y="38404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Sharper prescriptions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970264" y="418795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“Stores like yours saw Y from X.”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960120" y="365760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161288" y="396849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8448" y="4105656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764792" y="38404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Proven revenue lift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764792" y="418795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Winners stay and refer — next turn.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160520" y="2583180"/>
            <a:ext cx="3886200" cy="0"/>
          </a:xfrm>
          <a:prstGeom prst="line">
            <a:avLst/>
          </a:prstGeom>
          <a:noFill/>
          <a:ln w="31750">
            <a:solidFill>
              <a:srgbClr val="0871E7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9697212" y="3200400"/>
            <a:ext cx="0" cy="411480"/>
          </a:xfrm>
          <a:prstGeom prst="line">
            <a:avLst/>
          </a:prstGeom>
          <a:noFill/>
          <a:ln w="31750">
            <a:solidFill>
              <a:srgbClr val="0871E7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4160520" y="4229100"/>
            <a:ext cx="3886200" cy="0"/>
          </a:xfrm>
          <a:prstGeom prst="line">
            <a:avLst/>
          </a:prstGeom>
          <a:noFill/>
          <a:ln w="31750">
            <a:solidFill>
              <a:srgbClr val="0871E7"/>
            </a:solidFill>
            <a:prstDash val="solid"/>
            <a:headEnd type="triangle"/>
          </a:ln>
        </p:spPr>
      </p:sp>
      <p:sp>
        <p:nvSpPr>
          <p:cNvPr id="27" name="Shape 21"/>
          <p:cNvSpPr/>
          <p:nvPr/>
        </p:nvSpPr>
        <p:spPr>
          <a:xfrm>
            <a:off x="2491740" y="3200400"/>
            <a:ext cx="0" cy="411480"/>
          </a:xfrm>
          <a:prstGeom prst="line">
            <a:avLst/>
          </a:prstGeom>
          <a:noFill/>
          <a:ln w="31750">
            <a:solidFill>
              <a:srgbClr val="0871E7"/>
            </a:solidFill>
            <a:prstDash val="solid"/>
            <a:headEnd type="triangle"/>
          </a:ln>
        </p:spPr>
      </p:sp>
      <p:sp>
        <p:nvSpPr>
          <p:cNvPr id="28" name="Shape 22"/>
          <p:cNvSpPr/>
          <p:nvPr/>
        </p:nvSpPr>
        <p:spPr>
          <a:xfrm>
            <a:off x="5568696" y="2880360"/>
            <a:ext cx="1051560" cy="1051560"/>
          </a:xfrm>
          <a:prstGeom prst="ellipse">
            <a:avLst/>
          </a:prstGeom>
          <a:solidFill>
            <a:srgbClr val="ECE7DC"/>
          </a:solidFill>
          <a:ln w="19050">
            <a:solidFill>
              <a:srgbClr val="0871E7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765292" y="3076956"/>
            <a:ext cx="658368" cy="658368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0133" y="3221797"/>
            <a:ext cx="368686" cy="368686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566928" y="5074920"/>
            <a:ext cx="11055096" cy="914400"/>
          </a:xfrm>
          <a:prstGeom prst="roundRect">
            <a:avLst>
              <a:gd name="adj" fmla="val 8000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41248" y="5285232"/>
            <a:ext cx="512064" cy="512064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143" y="5408127"/>
            <a:ext cx="266273" cy="266273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527048" y="5074920"/>
            <a:ext cx="9820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incumbent's trap:  </a:t>
            </a:r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Triple Whale has the install base — but not the outcome-prescription loop. Flipping their dashboard-and-agency model to build it would cannibalize roughly a third of revenue. </a:t>
            </a:r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gap compounds in our favor, every turn.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IN ACTION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non-obvious pattern — then the exact move.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5298948" cy="365760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377440"/>
            <a:ext cx="731520" cy="73152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5603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64208" y="2395728"/>
            <a:ext cx="40187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Geographic concentration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77824" y="3246120"/>
            <a:ext cx="46771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DC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4128" y="3337560"/>
            <a:ext cx="4384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Pattern:  </a:t>
            </a:r>
            <a:pPr indent="0" marL="0">
              <a:lnSpc>
                <a:spcPct val="103000"/>
              </a:lnSpc>
              <a:buNone/>
            </a:pPr>
            <a:r>
              <a:rPr lang="en-US" sz="125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“82% of your customers come from within 5 miles of your physical locations.”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77824" y="4343400"/>
            <a:ext cx="4750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Simple Sense tells you to do: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77824" y="4645152"/>
            <a:ext cx="47503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Geo-fence Meta &amp; Google ads to a 5-mile radius</a:t>
            </a:r>
            <a:endParaRPr lang="en-US" sz="1200" dirty="0"/>
          </a:p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on aggressive local pickup / BOPIS via Shopify Flow</a:t>
            </a:r>
            <a:endParaRPr lang="en-US" sz="1200" dirty="0"/>
          </a:p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Shift budget from national spray to local high-intent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23076" y="2103120"/>
            <a:ext cx="5298948" cy="3657600"/>
          </a:xfrm>
          <a:prstGeom prst="roundRect">
            <a:avLst>
              <a:gd name="adj" fmla="val 2000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615684" y="2377440"/>
            <a:ext cx="731520" cy="73152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564" y="256032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20356" y="2395728"/>
            <a:ext cx="40187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Pareto customer economics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6633972" y="3246120"/>
            <a:ext cx="46771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DC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780276" y="3337560"/>
            <a:ext cx="4384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Pattern:  </a:t>
            </a:r>
            <a:pPr indent="0" marL="0">
              <a:lnSpc>
                <a:spcPct val="103000"/>
              </a:lnSpc>
              <a:buNone/>
            </a:pPr>
            <a:r>
              <a:rPr lang="en-US" sz="125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“Your top 20% of customers drive ~70% of revenue — and most were acquired one specific way.”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6633972" y="4343400"/>
            <a:ext cx="4750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Simple Sense tells you to do: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6633972" y="4645152"/>
            <a:ext cx="47503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the exact top-20% Klaviyo segment — auto-defined</a:t>
            </a:r>
            <a:endParaRPr lang="en-US" sz="1200" dirty="0"/>
          </a:p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 a VIP flow: early access, private sales, higher touch</a:t>
            </a:r>
            <a:endParaRPr lang="en-US" sz="1200" dirty="0"/>
          </a:p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Double down on the channel that produced them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87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Three curves just crossed.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240280"/>
            <a:ext cx="3502152" cy="2286000"/>
          </a:xfrm>
          <a:prstGeom prst="roundRect">
            <a:avLst>
              <a:gd name="adj" fmla="val 32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514600"/>
            <a:ext cx="768096" cy="768096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706624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3392424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AI can reason like an operator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3941064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2024–2026 models can analyze structured commerce data and produce judgment-grade recommendations — not just summaries. The “prescription” layer is newly buildable.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43400" y="2240280"/>
            <a:ext cx="3502152" cy="2286000"/>
          </a:xfrm>
          <a:prstGeom prst="roundRect">
            <a:avLst>
              <a:gd name="adj" fmla="val 32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17720" y="2514600"/>
            <a:ext cx="768096" cy="768096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2706624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7720" y="3392424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data is finally accessible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617720" y="3941064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Mature Shopify, Klaviyo, Meta &amp; Google APIs make it possible to unify a store's full history quickly and securely.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19872" y="2240280"/>
            <a:ext cx="3502152" cy="2286000"/>
          </a:xfrm>
          <a:prstGeom prst="roundRect">
            <a:avLst>
              <a:gd name="adj" fmla="val 32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94192" y="2514600"/>
            <a:ext cx="768096" cy="768096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6216" y="2706624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94192" y="3392424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Willingness to pay is proven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394192" y="3941064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~$25–29B e-commerce analytics market, and incumbents valued in the hundreds of millions, show merchants already pay for “make sense of my data.”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66928" y="4800600"/>
            <a:ext cx="11055096" cy="1051560"/>
          </a:xfrm>
          <a:prstGeom prst="roundRect">
            <a:avLst>
              <a:gd name="adj" fmla="val 6957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886968" y="4937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 validation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86968" y="5230368"/>
            <a:ext cx="1041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Triple Whale 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(dashboards) raised ~$52–55M at a reported ~$300M valuation, with 5,000+ paying brands tracking $14B+ in sales — Shopify Ventures participated.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proved the willingness to pay. We win the layer above: the decision.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OPPORTUNITY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$25B+ market, with a focused, ownable wedge.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812280" y="1280160"/>
            <a:ext cx="4846320" cy="4846320"/>
          </a:xfrm>
          <a:prstGeom prst="ellipse">
            <a:avLst/>
          </a:prstGeom>
          <a:solidFill>
            <a:srgbClr val="FFFDF9"/>
          </a:solidFill>
          <a:ln/>
        </p:spPr>
      </p:sp>
      <p:sp>
        <p:nvSpPr>
          <p:cNvPr id="5" name="Shape 3"/>
          <p:cNvSpPr/>
          <p:nvPr/>
        </p:nvSpPr>
        <p:spPr>
          <a:xfrm>
            <a:off x="7543800" y="2011680"/>
            <a:ext cx="3383280" cy="3383280"/>
          </a:xfrm>
          <a:prstGeom prst="ellipse">
            <a:avLst/>
          </a:prstGeom>
          <a:solidFill>
            <a:srgbClr val="ECE7DC"/>
          </a:solidFill>
          <a:ln/>
        </p:spPr>
      </p:sp>
      <p:sp>
        <p:nvSpPr>
          <p:cNvPr id="6" name="Shape 4"/>
          <p:cNvSpPr/>
          <p:nvPr/>
        </p:nvSpPr>
        <p:spPr>
          <a:xfrm>
            <a:off x="8321040" y="2788920"/>
            <a:ext cx="1828800" cy="1828800"/>
          </a:xfrm>
          <a:prstGeom prst="ellipse">
            <a:avLst/>
          </a:prstGeom>
          <a:solidFill>
            <a:srgbClr val="0871E7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0" y="1463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0" y="22219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7532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$2–7.7M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75320" y="37398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6FF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 (3–5 yr)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148840"/>
            <a:ext cx="5669280" cy="1234440"/>
          </a:xfrm>
          <a:prstGeom prst="roundRect">
            <a:avLst>
              <a:gd name="adj" fmla="val 5926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1248" y="22951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 — Total market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25694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37A6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~$25.7B (2025) → ~$28.6B (2026)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41248" y="29718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 e-commerce analytics software; ~14–17% CAGR to ~$60–97B by 2030–2035.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566928" y="3529584"/>
            <a:ext cx="5669280" cy="1234440"/>
          </a:xfrm>
          <a:prstGeom prst="roundRect">
            <a:avLst>
              <a:gd name="adj" fmla="val 5926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367588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 — We can serve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" y="395020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~$0.25–0.4B / yr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1248" y="4352544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~250–400k merchants at $1–15M GMV on Shopify / Woo / BigCommerce × ~$1k blended ACV ($49–99/mo).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566928" y="4910328"/>
            <a:ext cx="5669280" cy="1234440"/>
          </a:xfrm>
          <a:prstGeom prst="roundRect">
            <a:avLst>
              <a:gd name="adj" fmla="val 5926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" y="50566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 — 3–5 yr obtainable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33095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~$2–7.7M ARR  (1–3% of SAM)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1248" y="5733288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~2,500–8,000 stores over 3–5 years — consistent with the Base/Best scenarios.</a:t>
            </a:r>
            <a:endParaRPr lang="en-US" sz="1080" dirty="0"/>
          </a:p>
        </p:txBody>
      </p:sp>
      <p:sp>
        <p:nvSpPr>
          <p:cNvPr id="23" name="Text 21"/>
          <p:cNvSpPr/>
          <p:nvPr/>
        </p:nvSpPr>
        <p:spPr>
          <a:xfrm>
            <a:off x="566928" y="598932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 &amp; SOM are bottoms-up estimates; see Appendix for derivation &amp; sources. Penetration stays in low single digits even at the 5-year target.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WE SERVE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$1M–$15M operator who can't afford a CMO.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5029200" cy="3931920"/>
          </a:xfrm>
          <a:prstGeom prst="roundRect">
            <a:avLst>
              <a:gd name="adj" fmla="val 1860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86968" y="2377440"/>
            <a:ext cx="868680" cy="86868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138" y="2594610"/>
            <a:ext cx="434340" cy="4343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38528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customer profile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938528" y="270662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Growth-stage DTC &amp; omnichannel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86968" y="333756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$1M–$15M annual revenue</a:t>
            </a:r>
            <a:endParaRPr lang="en-US" sz="13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 (Woo / BigCommerce next)</a:t>
            </a:r>
            <a:endParaRPr lang="en-US" sz="13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Stack: GA4, Meta, Google, Klaviyo +</a:t>
            </a:r>
            <a:endParaRPr lang="en-US" sz="13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Lean team — no in-house analyst or CMO</a:t>
            </a:r>
            <a:endParaRPr lang="en-US" sz="13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3–5+ years of order &amp; customer history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053328" y="2103120"/>
            <a:ext cx="5568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Why they buy Simple Sense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053328" y="2542032"/>
            <a:ext cx="603504" cy="603504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4204" y="2692908"/>
            <a:ext cx="301752" cy="3017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830568" y="2523744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They're time-poor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830568" y="2816352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Owner-operators wearing five hats. They need answers, not another tool to learn.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053328" y="3429000"/>
            <a:ext cx="603504" cy="603504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4204" y="3579876"/>
            <a:ext cx="301752" cy="30175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830568" y="341071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can't afford agencies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830568" y="370332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fractional CMO or $3–10k/mo agency is out of reach — but the questions are the same.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053328" y="4315968"/>
            <a:ext cx="603504" cy="603504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4204" y="446684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830568" y="4297680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They're flying blind on profit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6830568" y="4590288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feel something's off in conversion or spend, but can't see the pattern or the fix.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053328" y="5202936"/>
            <a:ext cx="603504" cy="603504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4204" y="5353812"/>
            <a:ext cx="301752" cy="30175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6830568" y="5184648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want to execute, not admire</a:t>
            </a:r>
            <a:endParaRPr lang="en-US" sz="1350" dirty="0"/>
          </a:p>
        </p:txBody>
      </p:sp>
      <p:sp>
        <p:nvSpPr>
          <p:cNvPr id="26" name="Text 19"/>
          <p:cNvSpPr/>
          <p:nvPr/>
        </p:nvSpPr>
        <p:spPr>
          <a:xfrm>
            <a:off x="6830568" y="5477256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 moves with expected impact beat a 30-page report every single Monday.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MODEL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Simple SaaS subscription. Built for operators who can't afford a CMO.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accessible tiers — deliberately under Triple Whale (~$99–219+) and Polar (~$300–750+). A free audit is the front door.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606040"/>
            <a:ext cx="3441192" cy="2788920"/>
          </a:xfrm>
          <a:prstGeom prst="roundRect">
            <a:avLst>
              <a:gd name="adj" fmla="val 2623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59536" y="2880360"/>
            <a:ext cx="197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Free Audit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59536" y="3319272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59536" y="3977640"/>
            <a:ext cx="2892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59536" y="4343400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One-time deep store audit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prescriptive moves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Shareable report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73880" y="2606040"/>
            <a:ext cx="3441192" cy="2788920"/>
          </a:xfrm>
          <a:prstGeom prst="roundRect">
            <a:avLst>
              <a:gd name="adj" fmla="val 262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6488" y="2880360"/>
            <a:ext cx="197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Basic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66488" y="3319272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$49</a:t>
            </a:r>
            <a:pPr indent="0" marL="0">
              <a:buNone/>
            </a:pPr>
            <a:r>
              <a:rPr lang="en-US" sz="1400" dirty="0">
                <a:solidFill>
                  <a:srgbClr val="837A6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/mo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666488" y="3977640"/>
            <a:ext cx="2892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Solo &amp; growing operators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666488" y="4343400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 + Pareto analysis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Prescriptive recommendations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Klaviyo segment export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80832" y="2606040"/>
            <a:ext cx="3441192" cy="2788920"/>
          </a:xfrm>
          <a:prstGeom prst="roundRect">
            <a:avLst>
              <a:gd name="adj" fmla="val 2623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204704" y="2862072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0871E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04704" y="286207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POPULAR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473440" y="2880360"/>
            <a:ext cx="197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73440" y="3319272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98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$99</a:t>
            </a:r>
            <a:pPr indent="0" marL="0">
              <a:buNone/>
            </a:pPr>
            <a:r>
              <a:rPr lang="en-US" sz="1400" dirty="0">
                <a:solidFill>
                  <a:srgbClr val="E8E1D4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/mo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473440" y="3977640"/>
            <a:ext cx="2892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Scaling $1–15M stores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73440" y="4343400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in Basic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Cohort / LTV + one-click actions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Multi-store, API, priority support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577840"/>
            <a:ext cx="11055096" cy="868680"/>
          </a:xfrm>
          <a:prstGeom prst="roundRect">
            <a:avLst>
              <a:gd name="adj" fmla="val 8421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86968" y="5577840"/>
            <a:ext cx="104150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ARPU ~$68→$82/mo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·   75–82% gross margin   ·   LTV:CAC 6–8:1   ·   4–6 month CAC payback   ·   land with a free “Simple Sense Audit,” expand to Pro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GO-TO-MARKET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Land free. Grow through community. Scale through partners.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2558034" cy="2331720"/>
          </a:xfrm>
          <a:prstGeom prst="roundRect">
            <a:avLst>
              <a:gd name="adj" fmla="val 3137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450592"/>
            <a:ext cx="731520" cy="73152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633472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291840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Free audit, the wedge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22960" y="3822192"/>
            <a:ext cx="2100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“Get your Simple Sense audit free.” The report is the hook; the subscription is the upgrade.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99282" y="2194560"/>
            <a:ext cx="2558034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55314" y="2450592"/>
            <a:ext cx="731520" cy="731520"/>
          </a:xfrm>
          <a:prstGeom prst="ellipse">
            <a:avLst/>
          </a:prstGeom>
          <a:solidFill>
            <a:srgbClr val="211C1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8194" y="2633472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5314" y="3291840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Shopify App Store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655314" y="3822192"/>
            <a:ext cx="2100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distribution where merchants already are. A strong listing + reviews compound discovery.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31636" y="2194560"/>
            <a:ext cx="2558034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87668" y="2450592"/>
            <a:ext cx="731520" cy="731520"/>
          </a:xfrm>
          <a:prstGeom prst="ellipse">
            <a:avLst/>
          </a:prstGeom>
          <a:solidFill>
            <a:srgbClr val="211C1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0548" y="2633472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87668" y="3291840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Community-led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487668" y="3822192"/>
            <a:ext cx="2100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 genuinely useful where the pain is loud — r/shopify, Talk Shop Discord — plus weekly build-in-public on satya.me.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063990" y="2194560"/>
            <a:ext cx="2558034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320022" y="2450592"/>
            <a:ext cx="731520" cy="731520"/>
          </a:xfrm>
          <a:prstGeom prst="ellipse">
            <a:avLst/>
          </a:prstGeom>
          <a:solidFill>
            <a:srgbClr val="211C15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2902" y="2633472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320022" y="3291840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Agency + integration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9320022" y="3822192"/>
            <a:ext cx="2100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Co-market with Klaviyo &amp; Shopify Flow and agencies serving $1–15M stores. Paid only after 30–50 happy customers.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66928" y="4800600"/>
            <a:ext cx="11055096" cy="1051560"/>
          </a:xfrm>
          <a:prstGeom prst="roundRect">
            <a:avLst>
              <a:gd name="adj" fmla="val 6957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886968" y="4937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Motion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886968" y="5230368"/>
            <a:ext cx="1041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 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(free audit)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Convert 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(first prescriptions prove ROI)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Expand 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(monitoring + execution)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Refer 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(community + agency flywheel).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FINANCIAL PROJECTIONS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Three scenarios, net of churn — Base is the plan.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Conservative vs top-quartile Shopify-app benchmarks. Ranges, not false precision. At $49–$99 pricing, blended ARPU ~$68→$82/mo.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11055096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70632"/>
                <a:gridCol w="2770632"/>
                <a:gridCol w="277063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Scenario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Year 1 ARR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Year 2 ARR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Year 3 ARR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37A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Worst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$30–42k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$125–160k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$400–550k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74FA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Base — the plan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11C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$60–90k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11C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$300–430k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11C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$1.1–1.5M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11C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$150–220k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$800k–1.1M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$3.0–4.0M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029200"/>
            <a:ext cx="11055096" cy="960120"/>
          </a:xfrm>
          <a:prstGeom prst="roundRect">
            <a:avLst>
              <a:gd name="adj" fmla="val 7619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59536" y="5029200"/>
            <a:ext cx="10469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it straight:  </a:t>
            </a:r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is the planning number — steady App Store + community flywheel, churn improving to ~2.8%, break-even ~early Year 2 (Base reaches 1,300–1,600 customers). </a:t>
            </a:r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is upside, not the expectation.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17220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Illustrative scenarios; assumptions in Appendix. Not a forecast or guarantee of future results.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ECONOMICS &amp; COST STRUCTURE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Capital-efficient economics; break-even within reach early.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216712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75–82%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76656" y="2774290"/>
            <a:ext cx="23385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margin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99282" y="205740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90722" y="216712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6–8:1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509010" y="2774290"/>
            <a:ext cx="23385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LTV : CAC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1636" y="205740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23076" y="216712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4–6 mo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341364" y="2774290"/>
            <a:ext cx="23385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 payback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63990" y="205740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5430" y="216712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~$1.9–2.4k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173718" y="2774290"/>
            <a:ext cx="23385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est. LTV / customer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3611880"/>
            <a:ext cx="52989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Where early capital goes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" y="4023360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4160520"/>
            <a:ext cx="274320" cy="27432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280160" y="3995928"/>
            <a:ext cx="4567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&amp; Engineering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280160" y="4279392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Largest early line — a small full-stack team builds the engine + integrations.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773168"/>
            <a:ext cx="548640" cy="548640"/>
          </a:xfrm>
          <a:prstGeom prst="ellipse">
            <a:avLst/>
          </a:prstGeom>
          <a:solidFill>
            <a:srgbClr val="074FA0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4910328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280160" y="4745736"/>
            <a:ext cx="4567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Go-to-market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1280160" y="502920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Store launch, agency partnerships, content &amp; first paid tests.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566928" y="552297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5660136"/>
            <a:ext cx="274320" cy="27432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280160" y="5495544"/>
            <a:ext cx="4567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&amp; AI infrastructure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1280160" y="5779008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Pipelines, LLM inference &amp; SOC 2 path. Inference is the variable-cost swing factor — monitored closely.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323076" y="3611880"/>
            <a:ext cx="5298948" cy="2606040"/>
          </a:xfrm>
          <a:prstGeom prst="roundRect">
            <a:avLst>
              <a:gd name="adj" fmla="val 2807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30" name="Text 25"/>
          <p:cNvSpPr/>
          <p:nvPr/>
        </p:nvSpPr>
        <p:spPr>
          <a:xfrm>
            <a:off x="6615684" y="3794760"/>
            <a:ext cx="4750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Path to profitability</a:t>
            </a:r>
            <a:endParaRPr lang="en-US" sz="1600" dirty="0"/>
          </a:p>
        </p:txBody>
      </p:sp>
      <p:sp>
        <p:nvSpPr>
          <p:cNvPr id="31" name="Text 26"/>
          <p:cNvSpPr/>
          <p:nvPr/>
        </p:nvSpPr>
        <p:spPr>
          <a:xfrm>
            <a:off x="6615684" y="4206240"/>
            <a:ext cx="47320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8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1:  </a:t>
            </a:r>
            <a:pPr indent="0" marL="0">
              <a:lnSpc>
                <a:spcPct val="105000"/>
              </a:lnSpc>
              <a:buNone/>
            </a:pPr>
            <a:r>
              <a:rPr lang="en-US" sz="118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+ land — a small team ships the engine and App Store launch; first paying customers via community.</a:t>
            </a:r>
            <a:endParaRPr lang="en-US" sz="1180" dirty="0"/>
          </a:p>
          <a:p>
            <a:pPr indent="0" marL="0">
              <a:lnSpc>
                <a:spcPct val="105000"/>
              </a:lnSpc>
              <a:buNone/>
            </a:pPr>
            <a:endParaRPr lang="en-US" sz="118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8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Early Year 2:  </a:t>
            </a:r>
            <a:endParaRPr lang="en-US" sz="118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8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break-even (Base case) — App Store + community keep CAC low; a lean cost base is covered by recurring revenue.</a:t>
            </a:r>
            <a:endParaRPr lang="en-US" sz="1180" dirty="0"/>
          </a:p>
          <a:p>
            <a:pPr indent="0" marL="0">
              <a:lnSpc>
                <a:spcPct val="105000"/>
              </a:lnSpc>
              <a:buNone/>
            </a:pPr>
            <a:endParaRPr lang="en-US" sz="118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8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2+:  </a:t>
            </a:r>
            <a:endParaRPr lang="en-US" sz="118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8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compound — 75–82% margins on a growing recurring base fund Woo, BigCommerce &amp; deeper automation.</a:t>
            </a:r>
            <a:endParaRPr lang="en-US" sz="1180" dirty="0"/>
          </a:p>
        </p:txBody>
      </p:sp>
      <p:sp>
        <p:nvSpPr>
          <p:cNvPr id="32" name="Text 2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4" name="Text 2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COMPETITIVE LANDSCAPE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Everyone optimizes the rear-view. We own the decision.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11680"/>
          <a:ext cx="11055096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1783080"/>
                <a:gridCol w="424281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Competitor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Core focus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Pricing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gap vs Simple Sense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Triple Whale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Attribution, profit, AI agents (Moby)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~$99–219+/mo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Dashboard/attribution-heavy; AI is general agents, not specialized prescriptions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Polar Analytics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unification, AI insights, warehouse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~$300–750+/mo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Higher price, BI/warehouse-focused; reporting + insights, not prescriptions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Littledata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Server-side tracking / data layer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~$199+/mo + per-order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Narrower, tracking-first; complementary, not a prescription platform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Northbeam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Attribution, incrementality, MMM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Enterprise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Complex/expensive; geared to $40M+ brands; less accessible for $1–15M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Lifetimely / BeProfit / Saras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Profit tracking, P&amp;L, cohorts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$50–few hundred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Dashboards / narrow metrics; lack operator-level prescriptions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Simple Sense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FA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Prescriptive operator brain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FA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$49–99/mo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FA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 ARE the decision layer — ranked moves + expected impact, at software price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FA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98932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read:  </a:t>
            </a:r>
            <a:pPr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market is strong at “what happened.” Incumbents are adding AI “recommendations” too — our defense is depth of prescription, outcome accountability, and the underserved $1–15M operator, not feature parity. (See Risks.)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RISKS &amp; HOW WE DE-RISK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We name the risks — and the mitigation for each.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2194560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32257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5608" y="2139696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Incumbents add AI recommendations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435608" y="2414016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on prescription depth + outcome accountability; serve the $1–15M operator incumbents drift away from.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323076" y="2011680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42532" y="2194560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0548" y="232257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91756" y="2139696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SMB churn &amp; volatility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7191756" y="2414016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 value to demonstrated revenue lift; annual plans; embed in the weekly workflow.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" y="3035808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86384" y="3218688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34670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35608" y="3163824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accuracy / trust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435608" y="3438144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move grounded in the merchant's own numbers, with a transparent “why”; human-reviewable; conservative claims.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323076" y="3035808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42532" y="3218688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548" y="3346704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91756" y="3163824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privacy &amp; security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7191756" y="3438144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 2 roadmap, least-privilege access, clear DPA, US data residency for sensitive PII.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66928" y="4059936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86384" y="4242816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70832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35608" y="4187952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dependency (Shopify)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1435608" y="4462272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the data + decision layer, not just an app; multi-platform roadmap (Woo, BigCommerce).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323076" y="4059936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542532" y="4242816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548" y="4370832"/>
            <a:ext cx="256032" cy="25603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91756" y="4187952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Early-stage execution risk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7191756" y="4462272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Advisory bench, fractional senior hires, tight milestone gates tied to capital.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&amp; MILESTONES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From MVP to multi-platform, in four moves.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463040" y="2788920"/>
            <a:ext cx="9262872" cy="0"/>
          </a:xfrm>
          <a:prstGeom prst="line">
            <a:avLst/>
          </a:prstGeom>
          <a:noFill/>
          <a:ln w="25400">
            <a:solidFill>
              <a:srgbClr val="E4DD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377440"/>
            <a:ext cx="822960" cy="82296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5831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Now · Q3 2026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82880" y="3602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6000"/>
              </a:lnSpc>
              <a:buNone/>
            </a:pPr>
            <a:r>
              <a:rPr lang="en-US" sz="15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MVP &amp; design partners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" y="4160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 ingest + first prescription set (geo, Pareto, cohorts). Hand-in-hand with early stores.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39184" y="237744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924" y="258318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61944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 months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270504" y="3602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6000"/>
              </a:lnSpc>
              <a:buNone/>
            </a:pPr>
            <a:r>
              <a:rPr lang="en-US" sz="15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App Store launch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179064" y="4160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“Simple Sense Audit” lead magnet. First 150–250 paying customers. Agency pilot signed.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226808" y="237744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2548" y="258318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49568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 months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358128" y="3602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6000"/>
              </a:lnSpc>
              <a:buNone/>
            </a:pPr>
            <a:r>
              <a:rPr lang="en-US" sz="15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Monitoring &amp; execution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266688" y="4160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Change-alerts + one-click hooks into Klaviyo, Flow &amp; ad platforms. ~1,000+ customers.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0314432" y="237744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20172" y="258318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537192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+18–24 months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445752" y="3602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6000"/>
              </a:lnSpc>
              <a:buNone/>
            </a:pPr>
            <a:r>
              <a:rPr lang="en-US" sz="15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Multi-platform &amp; scale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354312" y="4160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WooCommerce + BigCommerce. Deeper automation. Raise seed / Series A on proven metrics.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&amp; FOUNDER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Built by an operator who has actually run the stores.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72768" y="2514600"/>
            <a:ext cx="1554480" cy="1554480"/>
          </a:xfrm>
          <a:prstGeom prst="ellipse">
            <a:avLst/>
          </a:prstGeom>
          <a:solidFill>
            <a:srgbClr val="0871E7"/>
          </a:solidFill>
          <a:ln/>
        </p:spPr>
      </p:sp>
      <p:sp>
        <p:nvSpPr>
          <p:cNvPr id="6" name="Text 4"/>
          <p:cNvSpPr/>
          <p:nvPr/>
        </p:nvSpPr>
        <p:spPr>
          <a:xfrm>
            <a:off x="1572768" y="25146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49808" y="4251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Satya Sivunigunta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49808" y="46177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Founder &amp; CEO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95528" y="4983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25+ yrs digital commerce &amp; retail leadership  ·  building in public on satya.me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90288" y="2286000"/>
            <a:ext cx="7031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operator résumé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90288" y="2697480"/>
            <a:ext cx="70317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CEO of SelectBlinds — a ~$80–200M online window-treatment retailer (Hunter Douglas took a minority stake, 2023).</a:t>
            </a:r>
            <a:endParaRPr lang="en-US" sz="13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&amp; omnichannel leadership at Microsoft, Nike, JCPenney, Conn's HomePlus, and Art Van.</a:t>
            </a:r>
            <a:endParaRPr lang="en-US" sz="13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operator experience across omnichannel, pricing, loyalty, supply chain, and retail transformation.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90288" y="4617720"/>
            <a:ext cx="7031736" cy="1234440"/>
          </a:xfrm>
          <a:prstGeom prst="roundRect">
            <a:avLst>
              <a:gd name="adj" fmla="val 5926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64608" y="4901184"/>
            <a:ext cx="621792" cy="621792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3838" y="5050414"/>
            <a:ext cx="323332" cy="32333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641848" y="4617720"/>
            <a:ext cx="57972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matters: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prescriptions only land if they carry real operator judgment. That credibility is the </a:t>
            </a:r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wedge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it lowers CAC through authentic community presence and earns trust for deep data access. The durable, compounding </a:t>
            </a:r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moat is the outcome-data flywheel.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5669280" cy="5669280"/>
          </a:xfrm>
          <a:prstGeom prst="ellipse">
            <a:avLst/>
          </a:prstGeom>
          <a:solidFill>
            <a:srgbClr val="ECE7DC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859536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Raising a pre-seed round to build the engine and prove ROI.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6968" y="2560320"/>
            <a:ext cx="822960" cy="822960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" y="276606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35204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raise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86968" y="373075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$1.0M</a:t>
            </a:r>
            <a:endParaRPr lang="en-US" sz="5400" dirty="0"/>
          </a:p>
        </p:txBody>
      </p:sp>
      <p:sp>
        <p:nvSpPr>
          <p:cNvPr id="10" name="Text 7"/>
          <p:cNvSpPr/>
          <p:nvPr/>
        </p:nvSpPr>
        <p:spPr>
          <a:xfrm>
            <a:off x="886968" y="4663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pre-seed  ·  ~18–24 mo runway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86968" y="50474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Instrument &amp; valuation to be set with counsel.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407408" y="2286000"/>
            <a:ext cx="7214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Use of funds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407408" y="269748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871E7"/>
          </a:solidFill>
          <a:ln/>
        </p:spPr>
      </p:sp>
      <p:sp>
        <p:nvSpPr>
          <p:cNvPr id="14" name="Text 11"/>
          <p:cNvSpPr/>
          <p:nvPr/>
        </p:nvSpPr>
        <p:spPr>
          <a:xfrm>
            <a:off x="4407408" y="2697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45%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504688" y="2715768"/>
            <a:ext cx="6117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&amp; Engineering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504688" y="2990088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 engine, Shopify integration, the free Audit; small full-stack team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407408" y="3465576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74FA0"/>
          </a:solidFill>
          <a:ln/>
        </p:spPr>
      </p:sp>
      <p:sp>
        <p:nvSpPr>
          <p:cNvPr id="18" name="Text 15"/>
          <p:cNvSpPr/>
          <p:nvPr/>
        </p:nvSpPr>
        <p:spPr>
          <a:xfrm>
            <a:off x="4407408" y="34655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25%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5504688" y="3483864"/>
            <a:ext cx="6117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Go-to-market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504688" y="3758184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Store launch, agency partnerships, community, light paid tests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407408" y="4233672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871E7"/>
          </a:solidFill>
          <a:ln/>
        </p:spPr>
      </p:sp>
      <p:sp>
        <p:nvSpPr>
          <p:cNvPr id="22" name="Text 19"/>
          <p:cNvSpPr/>
          <p:nvPr/>
        </p:nvSpPr>
        <p:spPr>
          <a:xfrm>
            <a:off x="4407408" y="423367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15%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5504688" y="4251960"/>
            <a:ext cx="6117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&amp; AI infrastructure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5504688" y="4526280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Pipelines, LLM inference, monitoring / SOC 2 path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407408" y="5001768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74FA0"/>
          </a:solidFill>
          <a:ln/>
        </p:spPr>
      </p:sp>
      <p:sp>
        <p:nvSpPr>
          <p:cNvPr id="26" name="Text 23"/>
          <p:cNvSpPr/>
          <p:nvPr/>
        </p:nvSpPr>
        <p:spPr>
          <a:xfrm>
            <a:off x="4407408" y="50017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15%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5504688" y="5020056"/>
            <a:ext cx="6117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Operations &amp; G&amp;A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5504688" y="5294376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Legal / entity, GDPR · CCPA, finance, founder runway + first hire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66928" y="598932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Milestones this unlocks:  </a:t>
            </a:r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on the Shopify App Store · 150–250 paying customers · agency channel signed · ROI case studies · ~$0.7–1.0M ARR run-rate.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828800"/>
            <a:ext cx="5852160" cy="5852160"/>
          </a:xfrm>
          <a:prstGeom prst="ellipse">
            <a:avLst/>
          </a:prstGeom>
          <a:solidFill>
            <a:srgbClr val="ECE7DC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822960"/>
            <a:ext cx="3840480" cy="3840480"/>
          </a:xfrm>
          <a:prstGeom prst="ellipse">
            <a:avLst/>
          </a:prstGeom>
          <a:solidFill>
            <a:srgbClr val="F4F1EA"/>
          </a:solidFill>
          <a:ln w="15875">
            <a:solidFill>
              <a:srgbClr val="0871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61320" y="457200"/>
            <a:ext cx="1280160" cy="128016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42955" y="738835"/>
            <a:ext cx="716890" cy="71689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554480"/>
            <a:ext cx="310896" cy="310896"/>
          </a:xfrm>
          <a:prstGeom prst="ellipse">
            <a:avLst/>
          </a:prstGeom>
          <a:solidFill>
            <a:srgbClr val="C25A3C"/>
          </a:solidFill>
          <a:ln/>
        </p:spPr>
      </p:sp>
      <p:sp>
        <p:nvSpPr>
          <p:cNvPr id="7" name="Text 4"/>
          <p:cNvSpPr/>
          <p:nvPr/>
        </p:nvSpPr>
        <p:spPr>
          <a:xfrm>
            <a:off x="987552" y="15270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Stop drowning in data.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566928" y="312724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Start executing high-confidence moves.</a:t>
            </a:r>
            <a:endParaRPr lang="en-US" sz="4600" dirty="0"/>
          </a:p>
        </p:txBody>
      </p:sp>
      <p:sp>
        <p:nvSpPr>
          <p:cNvPr id="10" name="Text 7"/>
          <p:cNvSpPr/>
          <p:nvPr/>
        </p:nvSpPr>
        <p:spPr>
          <a:xfrm>
            <a:off x="566928" y="4297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is the co-pilot every $1–15M store has been missing — operator judgment, at software price.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66928" y="5285232"/>
            <a:ext cx="1106424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6928" y="5468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SimpleSense.co</a:t>
            </a:r>
            <a:pPr indent="0" marL="0">
              <a:buNone/>
            </a:pPr>
            <a:r>
              <a:rPr lang="en-US" sz="13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·      Satya Sivunigunta, Founder      ·      Investor Overview, June 2026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66928" y="59253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 — for discussion purposes only.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Sources &amp; key assumptions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52989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assumptions (illustrative)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2103120"/>
            <a:ext cx="529894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Pricing: $49 Basic / $99 Pro per month; blended ARPU ~$68 → ~$82/mo (~$815 → ~$980/yr).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margin 75–82% (hosting + LLM inference + data + CS); inference is the variable-cost swing factor.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churn ~4.0% (Y1) → 2.5–2.8% (Y2+) → ~25–30-month average lifespan; LTV ≈ $1,900–2,400.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 ~$250–350 early → $450–600 mature; LTV:CAC 6–8:1; payback 4–6 months.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SAM: ~250–400k merchants at $1–15M GMV on Shopify / Woo / BigCommerce × ~$1k ACV ≈ $0.25–0.4B serviceable.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Scenarios (net of churn): Base Y3 $1.1–1.5M (1,300–1,600 cust.); Best Y3 $3.0–4.0M; Worst Y3 $400–550k.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Ask: $1.0M pre-seed (buffer $1.25–1.5M), post-money SAFE, ~$10M cap target — terms set with counsel.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323076" y="1783080"/>
            <a:ext cx="52989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Selected sources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23076" y="2103120"/>
            <a:ext cx="529894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size: Coherent Market Insights (e-commerce analytics $25.72B in 2025, 17.7% CAGR); Business Research Insights ($25.01B 2025 → $28.64B 2026, 14.51% CAGR); Research &amp; Markets ($29.275B 2025).</a:t>
            </a:r>
            <a:endParaRPr lang="en-US" sz="1030" dirty="0"/>
          </a:p>
          <a:p>
            <a:pPr marL="165100" indent="-1651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 scale: Demandsage (6.81M active stores, 2026); Storeleads (~74.5k Shopify Plus); Latori / Uptek (5.5–6.5M live stores; ~1.4% avg conversion).</a:t>
            </a:r>
            <a:endParaRPr lang="en-US" sz="1030" dirty="0"/>
          </a:p>
          <a:p>
            <a:pPr marL="165100" indent="-1651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 validation: TechCrunch / The SaaS News / IoT M2M Council ($25M Series B, 5,000+ brands, $14B+ tracked sales, Shopify Ventures); Tracxn / CB Insights / GetLatka (~$52–55M raised, ~$300M valuation, ~$21.6M revenue).</a:t>
            </a:r>
            <a:endParaRPr lang="en-US" sz="1030" dirty="0"/>
          </a:p>
        </p:txBody>
      </p:sp>
      <p:sp>
        <p:nvSpPr>
          <p:cNvPr id="8" name="Text 6"/>
          <p:cNvSpPr/>
          <p:nvPr/>
        </p:nvSpPr>
        <p:spPr>
          <a:xfrm>
            <a:off x="6323076" y="5440680"/>
            <a:ext cx="529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3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Figures are estimates from third-party research and public reporting; market-sizing methodologies vary. Projections are illustrative and not a forecast or guarantee. Verify before reliance.</a:t>
            </a:r>
            <a:endParaRPr lang="en-US" sz="93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Simple Sense — Investor Overview</dc:title>
  <dc:subject>PptxGenJS Presentation</dc:subject>
  <dc:creator>Simple Sense</dc:creator>
  <cp:lastModifiedBy>Simple Sense</cp:lastModifiedBy>
  <cp:revision>1</cp:revision>
  <dcterms:created xsi:type="dcterms:W3CDTF">2026-06-27T23:17:49Z</dcterms:created>
  <dcterms:modified xsi:type="dcterms:W3CDTF">2026-06-27T23:17:49Z</dcterms:modified>
</cp:coreProperties>
</file>